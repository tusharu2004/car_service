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84" r:id="rId5"/>
    <p:sldId id="298" r:id="rId6"/>
    <p:sldId id="299" r:id="rId7"/>
    <p:sldId id="300" r:id="rId8"/>
    <p:sldId id="327" r:id="rId9"/>
    <p:sldId id="328" r:id="rId10"/>
    <p:sldId id="329" r:id="rId11"/>
    <p:sldId id="330" r:id="rId12"/>
    <p:sldId id="331" r:id="rId13"/>
    <p:sldId id="332" r:id="rId14"/>
    <p:sldId id="333" r:id="rId15"/>
    <p:sldId id="334" r:id="rId16"/>
    <p:sldId id="335" r:id="rId17"/>
    <p:sldId id="301" r:id="rId18"/>
    <p:sldId id="321" r:id="rId19"/>
    <p:sldId id="302" r:id="rId20"/>
    <p:sldId id="323" r:id="rId21"/>
    <p:sldId id="310" r:id="rId22"/>
    <p:sldId id="322" r:id="rId23"/>
    <p:sldId id="336" r:id="rId24"/>
    <p:sldId id="337" r:id="rId25"/>
    <p:sldId id="303" r:id="rId26"/>
    <p:sldId id="324" r:id="rId27"/>
    <p:sldId id="313" r:id="rId28"/>
    <p:sldId id="316" r:id="rId29"/>
    <p:sldId id="29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903" autoAdjust="0"/>
  </p:normalViewPr>
  <p:slideViewPr>
    <p:cSldViewPr snapToGrid="0" snapToObjects="1" showGuides="1">
      <p:cViewPr varScale="1">
        <p:scale>
          <a:sx n="84" d="100"/>
          <a:sy n="84" d="100"/>
        </p:scale>
        <p:origin x="408" y="77"/>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12/7/2024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a:xfrm>
            <a:off x="3569739" y="2197172"/>
            <a:ext cx="4873752" cy="619179"/>
          </a:xfrm>
        </p:spPr>
        <p:txBody>
          <a:bodyPr/>
          <a:lstStyle/>
          <a:p>
            <a:pPr algn="ctr"/>
            <a:r>
              <a:rPr lang="en-US" sz="3500" b="1" dirty="0"/>
              <a:t>Car Rental System</a:t>
            </a:r>
          </a:p>
        </p:txBody>
      </p:sp>
      <p:pic>
        <p:nvPicPr>
          <p:cNvPr id="2" name="Picture 2" descr="GNU">
            <a:extLst>
              <a:ext uri="{FF2B5EF4-FFF2-40B4-BE49-F238E27FC236}">
                <a16:creationId xmlns:a16="http://schemas.microsoft.com/office/drawing/2014/main" id="{48B4B8A7-CB3F-3FDF-F9A0-196A31391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9124" y="956843"/>
            <a:ext cx="4694983" cy="114623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22">
            <a:extLst>
              <a:ext uri="{FF2B5EF4-FFF2-40B4-BE49-F238E27FC236}">
                <a16:creationId xmlns:a16="http://schemas.microsoft.com/office/drawing/2014/main" id="{679936A4-BB44-F3A8-8362-8827FC034A88}"/>
              </a:ext>
            </a:extLst>
          </p:cNvPr>
          <p:cNvSpPr txBox="1">
            <a:spLocks/>
          </p:cNvSpPr>
          <p:nvPr/>
        </p:nvSpPr>
        <p:spPr>
          <a:xfrm>
            <a:off x="1463040" y="3026664"/>
            <a:ext cx="4873752" cy="118872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200" b="1" dirty="0">
                <a:latin typeface="+mn-lt"/>
              </a:rPr>
              <a:t>Name : Solanki </a:t>
            </a:r>
            <a:r>
              <a:rPr lang="en-US" sz="2200" b="1" dirty="0" err="1">
                <a:latin typeface="+mn-lt"/>
              </a:rPr>
              <a:t>Bharatsinh</a:t>
            </a:r>
            <a:r>
              <a:rPr lang="en-US" sz="2200" b="1" dirty="0">
                <a:latin typeface="+mn-lt"/>
              </a:rPr>
              <a:t> (21012011140)</a:t>
            </a:r>
            <a:br>
              <a:rPr lang="en-US" sz="2200" b="1" dirty="0">
                <a:latin typeface="+mn-lt"/>
              </a:rPr>
            </a:br>
            <a:r>
              <a:rPr lang="en-US" sz="2200" b="1" dirty="0">
                <a:latin typeface="+mn-lt"/>
              </a:rPr>
              <a:t>             Umretiya Tushar (2101211152)</a:t>
            </a:r>
            <a:br>
              <a:rPr lang="en-US" sz="2200" b="1" dirty="0">
                <a:latin typeface="+mn-lt"/>
              </a:rPr>
            </a:br>
            <a:r>
              <a:rPr lang="en-US" sz="2200" b="1" dirty="0">
                <a:latin typeface="+mn-lt"/>
              </a:rPr>
              <a:t>             </a:t>
            </a:r>
            <a:r>
              <a:rPr lang="en-US" sz="2200" b="1" dirty="0" err="1">
                <a:latin typeface="+mn-lt"/>
              </a:rPr>
              <a:t>Bhalodiya</a:t>
            </a:r>
            <a:r>
              <a:rPr lang="en-US" sz="2200" b="1" dirty="0">
                <a:latin typeface="+mn-lt"/>
              </a:rPr>
              <a:t> Maulik (21012011004)</a:t>
            </a:r>
            <a:br>
              <a:rPr lang="en-US" sz="2200" b="1" dirty="0">
                <a:latin typeface="+mn-lt"/>
              </a:rPr>
            </a:br>
            <a:br>
              <a:rPr lang="en-US" sz="2200" b="1" dirty="0">
                <a:latin typeface="+mn-lt"/>
              </a:rPr>
            </a:br>
            <a:r>
              <a:rPr lang="en-US" sz="2200" b="1" dirty="0" err="1">
                <a:latin typeface="+mn-lt"/>
              </a:rPr>
              <a:t>Team_Id</a:t>
            </a:r>
            <a:r>
              <a:rPr lang="en-US" sz="2200" b="1" dirty="0">
                <a:latin typeface="+mn-lt"/>
              </a:rPr>
              <a:t>: 17</a:t>
            </a:r>
          </a:p>
          <a:p>
            <a:endParaRPr lang="en-US" sz="2200" b="1" dirty="0">
              <a:latin typeface="+mn-lt"/>
            </a:endParaRPr>
          </a:p>
          <a:p>
            <a:endParaRPr lang="en-US" sz="2200" b="1" dirty="0">
              <a:latin typeface="+mn-lt"/>
            </a:endParaRPr>
          </a:p>
        </p:txBody>
      </p:sp>
      <p:sp>
        <p:nvSpPr>
          <p:cNvPr id="5" name="Title 22">
            <a:extLst>
              <a:ext uri="{FF2B5EF4-FFF2-40B4-BE49-F238E27FC236}">
                <a16:creationId xmlns:a16="http://schemas.microsoft.com/office/drawing/2014/main" id="{3C2C6E1D-8F63-5F2C-50D9-F2388D26D8FD}"/>
              </a:ext>
            </a:extLst>
          </p:cNvPr>
          <p:cNvSpPr txBox="1">
            <a:spLocks/>
          </p:cNvSpPr>
          <p:nvPr/>
        </p:nvSpPr>
        <p:spPr>
          <a:xfrm>
            <a:off x="1463040" y="4766965"/>
            <a:ext cx="3231768" cy="47480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200" b="1" dirty="0">
                <a:latin typeface="+mn-lt"/>
              </a:rPr>
              <a:t>Guided By : Ketan J </a:t>
            </a:r>
            <a:r>
              <a:rPr lang="en-US" sz="2200" b="1" dirty="0" err="1">
                <a:latin typeface="+mn-lt"/>
              </a:rPr>
              <a:t>Sarvakar</a:t>
            </a:r>
            <a:endParaRPr lang="en-US" sz="2200" b="1" dirty="0">
              <a:latin typeface="+mn-lt"/>
            </a:endParaRPr>
          </a:p>
        </p:txBody>
      </p:sp>
    </p:spTree>
    <p:extLst>
      <p:ext uri="{BB962C8B-B14F-4D97-AF65-F5344CB8AC3E}">
        <p14:creationId xmlns:p14="http://schemas.microsoft.com/office/powerpoint/2010/main" val="40970233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2">
            <a:extLst>
              <a:ext uri="{FF2B5EF4-FFF2-40B4-BE49-F238E27FC236}">
                <a16:creationId xmlns:a16="http://schemas.microsoft.com/office/drawing/2014/main" id="{1D5C1001-2878-A833-D81F-8E6180535D69}"/>
              </a:ext>
            </a:extLst>
          </p:cNvPr>
          <p:cNvSpPr txBox="1">
            <a:spLocks/>
          </p:cNvSpPr>
          <p:nvPr/>
        </p:nvSpPr>
        <p:spPr>
          <a:xfrm>
            <a:off x="1463039" y="1948797"/>
            <a:ext cx="8781791" cy="297831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500" dirty="0">
                <a:latin typeface="Times New Roman" panose="02020603050405020304" pitchFamily="18" charset="0"/>
                <a:cs typeface="Times New Roman" panose="02020603050405020304" pitchFamily="18" charset="0"/>
              </a:rPr>
              <a:t>The Car Rental System is a web-based application designed to manage the process of renting cars efficiently. It allows users to search for available cars, make reservations, and process payments online. Admins manage the car inventory, review bookings, and maintain the system’s operations. The system aims to simplify car rental services for both customers and administrators by offering an intuitive, secure, and efficient interface.</a:t>
            </a:r>
          </a:p>
        </p:txBody>
      </p:sp>
      <p:sp>
        <p:nvSpPr>
          <p:cNvPr id="6" name="Title 22">
            <a:extLst>
              <a:ext uri="{FF2B5EF4-FFF2-40B4-BE49-F238E27FC236}">
                <a16:creationId xmlns:a16="http://schemas.microsoft.com/office/drawing/2014/main" id="{1DD96C59-38F7-AA1E-066A-0F8D4CF6874B}"/>
              </a:ext>
            </a:extLst>
          </p:cNvPr>
          <p:cNvSpPr txBox="1">
            <a:spLocks/>
          </p:cNvSpPr>
          <p:nvPr/>
        </p:nvSpPr>
        <p:spPr>
          <a:xfrm>
            <a:off x="4037561" y="1151286"/>
            <a:ext cx="3632745"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Overview of Project</a:t>
            </a:r>
          </a:p>
        </p:txBody>
      </p:sp>
    </p:spTree>
    <p:extLst>
      <p:ext uri="{BB962C8B-B14F-4D97-AF65-F5344CB8AC3E}">
        <p14:creationId xmlns:p14="http://schemas.microsoft.com/office/powerpoint/2010/main" val="128780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5068708" y="1151286"/>
            <a:ext cx="1819229"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Objective</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84790" y="2228670"/>
            <a:ext cx="951439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objective of the Car Rental System is to centralize and provide accessible information about available vehicles, rental policies, and payment options. It aims to empower users by offering a streamlined platform for booking cars, managing rentals, and tracking reservations, ultimately leading to enhanced customer convenience, improved operational efficiency, and increased business growth.</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0026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779367"/>
            <a:ext cx="9606988" cy="3561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User Registration</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858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Input: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User provides: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Full Name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Email Address</a:t>
            </a:r>
            <a:r>
              <a:rPr lang="en-IN" sz="2500" kern="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(used as username)</a:t>
            </a: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Mobile Number</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Password</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790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002379"/>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573541"/>
            <a:ext cx="9606988" cy="3973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07000"/>
              </a:lnSpc>
              <a:spcAft>
                <a:spcPts val="800"/>
              </a:spcAft>
              <a:buSzPts val="1000"/>
              <a:buFont typeface="Symbol" panose="05050102010706020507" pitchFamily="18" charset="2"/>
              <a:buChar char=""/>
              <a:tabLst>
                <a:tab pos="6858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Process: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Validation:</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Check if the </a:t>
            </a:r>
            <a:r>
              <a:rPr lang="en-IN" sz="2500" kern="0" dirty="0">
                <a:latin typeface="Times New Roman" panose="02020603050405020304" pitchFamily="18" charset="0"/>
                <a:ea typeface="Times New Roman" panose="02020603050405020304" pitchFamily="18" charset="0"/>
                <a:cs typeface="Times New Roman" panose="02020603050405020304" pitchFamily="18" charset="0"/>
              </a:rPr>
              <a:t>Email</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is unique and not already registered.</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Validate the email address format.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Ensure the password meets security criteria (e.g., length, complexity).</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Database Operations: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Hash the password for secure storage.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3386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573541"/>
            <a:ext cx="9606988" cy="3973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07000"/>
              </a:lnSpc>
              <a:spcAft>
                <a:spcPts val="800"/>
              </a:spcAft>
              <a:buSzPts val="1000"/>
              <a:buFont typeface="Symbol" panose="05050102010706020507" pitchFamily="18" charset="2"/>
              <a:buChar char=""/>
              <a:tabLst>
                <a:tab pos="6858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Output: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Success: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Display a confirmation message that registration was successful.</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Redirect the user to the login page or homepage.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Failure: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Display an error message indicating issues (e.g., </a:t>
            </a:r>
            <a:r>
              <a:rPr lang="en-IN" sz="2500" kern="0" dirty="0">
                <a:latin typeface="Times New Roman" panose="02020603050405020304" pitchFamily="18" charset="0"/>
                <a:ea typeface="Times New Roman" panose="02020603050405020304" pitchFamily="18" charset="0"/>
                <a:cs typeface="Times New Roman" panose="02020603050405020304" pitchFamily="18" charset="0"/>
              </a:rPr>
              <a:t>Email</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already in use, invalid email format).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Prompt the user to correct and resubmit the information.</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8185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522245"/>
            <a:ext cx="9606988" cy="4075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Search Car</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858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Input: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User provides search criteria:</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Car Brand</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Car Model</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Rental Location</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Rental Dates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Car Type (e.g., sedan, SUV)</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1594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638880"/>
            <a:ext cx="9606988" cy="3842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07000"/>
              </a:lnSpc>
              <a:spcAft>
                <a:spcPts val="800"/>
              </a:spcAft>
              <a:buSzPts val="1000"/>
              <a:buFont typeface="Symbol" panose="05050102010706020507" pitchFamily="18" charset="2"/>
              <a:buChar char=""/>
              <a:tabLst>
                <a:tab pos="6858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Process: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Search Execution: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Query the database for cars matching the search criteria.</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Filter results based on availability and other parameters.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858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Output: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
              <a:tabLst>
                <a:tab pos="11430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Success: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Display a list of available cars that match the search criteria, including details like car model, brand, rental rate, and availability.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480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2139081"/>
            <a:ext cx="9606988" cy="284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lvl="1" indent="-285750" algn="just">
              <a:lnSpc>
                <a:spcPct val="107000"/>
              </a:lnSpc>
              <a:spcAft>
                <a:spcPts val="800"/>
              </a:spcAft>
              <a:buFont typeface="Wingdings" panose="05000000000000000000" pitchFamily="2" charset="2"/>
              <a:buChar char=""/>
              <a:tabLst>
                <a:tab pos="1143000" algn="l"/>
              </a:tabLs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Failure: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Display a message indicating no cars are available that match the search criteria.</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600200" algn="l"/>
              </a:tabLs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Offer options to modify search criteria or check for other locations/dates.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85800" algn="l"/>
              </a:tabLst>
            </a:pP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00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525883" y="1151286"/>
            <a:ext cx="5140234"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Non 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727431"/>
            <a:ext cx="9606988" cy="3665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algn="just">
              <a:lnSpc>
                <a:spcPct val="107000"/>
              </a:lnSpc>
              <a:spcAft>
                <a:spcPts val="800"/>
              </a:spcAf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Performance Requirements:</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Search results for available cars should be returned in less than 3 seconds.</a:t>
            </a:r>
          </a:p>
          <a:p>
            <a:pPr marL="457200" algn="just">
              <a:lnSpc>
                <a:spcPct val="107000"/>
              </a:lnSpc>
              <a:spcAft>
                <a:spcPts val="800"/>
              </a:spcAft>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The booking confirmation process, including payment validation, should complete in under 5 seconds.</a:t>
            </a:r>
          </a:p>
          <a:p>
            <a:pPr marL="457200" algn="just">
              <a:lnSpc>
                <a:spcPct val="107000"/>
              </a:lnSpc>
              <a:spcAft>
                <a:spcPts val="800"/>
              </a:spcAf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Usability: </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The system should be accessible from different devices, including desktops, tablets, and smartphones (responsive design).</a:t>
            </a:r>
          </a:p>
          <a:p>
            <a:pPr marL="457200" algn="just">
              <a:lnSpc>
                <a:spcPct val="107000"/>
              </a:lnSpc>
              <a:spcAft>
                <a:spcPts val="800"/>
              </a:spcAft>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Provide clear and concise error messages and tooltips to guide users through the reservation process.</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3908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539599" y="1151286"/>
            <a:ext cx="5112802"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Non Functional Requirements</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778728"/>
            <a:ext cx="9606988" cy="356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algn="just">
              <a:lnSpc>
                <a:spcPct val="107000"/>
              </a:lnSpc>
              <a:spcAft>
                <a:spcPts val="800"/>
              </a:spcAf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Maintainability:</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Modular architecture for easy updates, with thorough documentation and automated testing.</a:t>
            </a:r>
          </a:p>
          <a:p>
            <a:pPr marL="457200" algn="just">
              <a:lnSpc>
                <a:spcPct val="107000"/>
              </a:lnSpc>
              <a:spcAft>
                <a:spcPts val="800"/>
              </a:spcAf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Security Requirements:</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Passwords must be hashed using secure algorithms The system should log failed login attempts and enforce account lockout after 5 consecutive failed attempts.</a:t>
            </a:r>
          </a:p>
          <a:p>
            <a:pPr marL="457200" algn="just">
              <a:lnSpc>
                <a:spcPct val="107000"/>
              </a:lnSpc>
              <a:spcAft>
                <a:spcPts val="800"/>
              </a:spcAf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Scalability: </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The system should be able to scale horizontally by adding more servers or cloud resources to handle increased user load. The system should accommodate expansion to multiple locations.</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9654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92870" y="1071579"/>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Technological Stack</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676134"/>
            <a:ext cx="9606988" cy="3768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Frontend (User Interface)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HTML5:</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For the structure and layout of web pages.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CSS3:</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For styling the UI, making it responsive and visually appealing (consider using Bootstrap for responsiveness).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JavaScript:</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For client-side interactivity and functionality, such as form validation and dynamic content.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AJAX (Asynchronous JavaScript and XML): </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For making asynchronous requests to the server without reloading the page.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8477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601430" y="1151286"/>
            <a:ext cx="4989140" cy="6280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Technological Stack</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1881960"/>
            <a:ext cx="9606988" cy="3356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Backend (Server-Side Logic)</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PHP:</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For server-side scripting, handling business logic, processing requests, managing user sessions, and integrating with the database.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Database (Data Storage)</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b="1" kern="0" dirty="0">
                <a:effectLst/>
                <a:latin typeface="Times New Roman" panose="02020603050405020304" pitchFamily="18" charset="0"/>
                <a:ea typeface="Times New Roman" panose="02020603050405020304" pitchFamily="18" charset="0"/>
                <a:cs typeface="Times New Roman" panose="02020603050405020304" pitchFamily="18" charset="0"/>
              </a:rPr>
              <a:t>MySQL:</a:t>
            </a: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 Use it for creating relational database tables to manage users, cars, bookings, and payments efficiently.</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sz="2500" kern="0" dirty="0">
                <a:effectLst/>
                <a:latin typeface="Times New Roman" panose="02020603050405020304" pitchFamily="18" charset="0"/>
                <a:ea typeface="Times New Roman" panose="02020603050405020304" pitchFamily="18" charset="0"/>
                <a:cs typeface="Times New Roman" panose="02020603050405020304" pitchFamily="18" charset="0"/>
              </a:rPr>
              <a:t>Use phpMyAdmin for easy database management and queries</a:t>
            </a:r>
            <a:r>
              <a:rPr lang="en-IN" sz="2500" kern="100" dirty="0">
                <a:latin typeface="Times New Roman" panose="02020603050405020304" pitchFamily="18" charset="0"/>
                <a:ea typeface="Calibri" panose="020F0502020204030204" pitchFamily="34" charset="0"/>
                <a:cs typeface="Times New Roman" panose="02020603050405020304" pitchFamily="18" charset="0"/>
              </a:rPr>
              <a:t>.</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9079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896634" y="844170"/>
            <a:ext cx="4398731" cy="48344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Admin Dashboard page</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4A22C5F1-7B27-BA9A-EA89-6A370062D01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4160" y="1354748"/>
            <a:ext cx="8585200" cy="3954723"/>
          </a:xfrm>
          <a:prstGeom prst="rect">
            <a:avLst/>
          </a:prstGeom>
          <a:noFill/>
        </p:spPr>
      </p:pic>
    </p:spTree>
    <p:extLst>
      <p:ext uri="{BB962C8B-B14F-4D97-AF65-F5344CB8AC3E}">
        <p14:creationId xmlns:p14="http://schemas.microsoft.com/office/powerpoint/2010/main" val="4077726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047122" y="1357962"/>
            <a:ext cx="6097756" cy="45051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Admin Dashboard Page Description</a:t>
            </a:r>
          </a:p>
          <a:p>
            <a:pPr algn="just"/>
            <a:endParaRPr lang="en-US" sz="3000" b="1"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6" y="2197513"/>
            <a:ext cx="9606988"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500" dirty="0">
                <a:effectLst/>
                <a:latin typeface="Times New Roman" panose="02020603050405020304" pitchFamily="18" charset="0"/>
                <a:ea typeface="Times New Roman" panose="02020603050405020304" pitchFamily="18" charset="0"/>
              </a:rPr>
              <a:t>The admin dashboard for a car rental system provides an overview of key metrics, including listed vehicles, bookings, brands, testimonials, and queries. It allows for easy navigation and management of various aspects of the system, such as brands, vehicles, bookings, and user information.</a:t>
            </a:r>
            <a:endParaRPr lang="en-IN" sz="2500" dirty="0">
              <a:effectLst/>
              <a:latin typeface="Times New Roman" panose="02020603050405020304" pitchFamily="18"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91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4264453" y="986186"/>
            <a:ext cx="3663091"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Admin Booking page</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25BD2F5D-E02B-CF95-8D38-C93FC84492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9475" y="1649730"/>
            <a:ext cx="8653050" cy="3887735"/>
          </a:xfrm>
          <a:prstGeom prst="rect">
            <a:avLst/>
          </a:prstGeom>
          <a:noFill/>
        </p:spPr>
      </p:pic>
    </p:spTree>
    <p:extLst>
      <p:ext uri="{BB962C8B-B14F-4D97-AF65-F5344CB8AC3E}">
        <p14:creationId xmlns:p14="http://schemas.microsoft.com/office/powerpoint/2010/main" val="3342040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220625" y="1468705"/>
            <a:ext cx="5750749" cy="500305"/>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Admin Booking Page Description</a:t>
            </a:r>
          </a:p>
          <a:p>
            <a:pPr algn="just"/>
            <a:endParaRPr lang="en-US" sz="3000" b="1"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122744" y="2177193"/>
            <a:ext cx="9606988"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500" dirty="0">
                <a:effectLst/>
                <a:latin typeface="Times New Roman" panose="02020603050405020304" pitchFamily="18" charset="0"/>
                <a:ea typeface="Times New Roman" panose="02020603050405020304" pitchFamily="18" charset="0"/>
              </a:rPr>
              <a:t>The admin booking page within the car rental system allows for the management of customer bookings. It displays a list of existing bookings, including customer information, vehicle details, booking dates, status, and posting dates. Administrators can view booking details and potentially take actions such as confirming or canceling </a:t>
            </a:r>
            <a:r>
              <a:rPr lang="en-US" sz="2500" spc="-10" dirty="0">
                <a:effectLst/>
                <a:latin typeface="Times New Roman" panose="02020603050405020304" pitchFamily="18" charset="0"/>
                <a:ea typeface="Times New Roman" panose="02020603050405020304" pitchFamily="18" charset="0"/>
              </a:rPr>
              <a:t>bookings.</a:t>
            </a:r>
            <a:endParaRPr lang="en-IN" sz="2500" dirty="0">
              <a:effectLst/>
              <a:latin typeface="Times New Roman" panose="02020603050405020304" pitchFamily="18" charset="0"/>
              <a:ea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4892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4172296" y="983011"/>
            <a:ext cx="3847407"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User Sign-In Page</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F8A63AA4-28B2-66CA-1788-17D8DDCD2B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4000" y="1660525"/>
            <a:ext cx="5974080" cy="3863059"/>
          </a:xfrm>
          <a:prstGeom prst="rect">
            <a:avLst/>
          </a:prstGeom>
          <a:noFill/>
          <a:ln>
            <a:noFill/>
          </a:ln>
        </p:spPr>
      </p:pic>
    </p:spTree>
    <p:extLst>
      <p:ext uri="{BB962C8B-B14F-4D97-AF65-F5344CB8AC3E}">
        <p14:creationId xmlns:p14="http://schemas.microsoft.com/office/powerpoint/2010/main" val="4238166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046162" y="1644384"/>
            <a:ext cx="6099673" cy="50033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User Sign-In Page Description</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292505" y="2450834"/>
            <a:ext cx="960698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500" dirty="0">
                <a:effectLst/>
                <a:latin typeface="Times New Roman" panose="02020603050405020304" pitchFamily="18" charset="0"/>
                <a:ea typeface="Times New Roman" panose="02020603050405020304" pitchFamily="18" charset="0"/>
              </a:rPr>
              <a:t>This</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page</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presents</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login</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interface</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with</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options,</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after</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complete</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login</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user</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will</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redirect to home page, for not registered users. Users can click to “register now” link to complete register process.</a:t>
            </a:r>
            <a:endParaRPr lang="en-IN" sz="2500" dirty="0">
              <a:effectLst/>
              <a:latin typeface="Times New Roman" panose="02020603050405020304" pitchFamily="18"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0710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AE52C-8DBB-5E24-E620-96B8FDFE699E}"/>
            </a:ext>
          </a:extLst>
        </p:cNvPr>
        <p:cNvGrpSpPr/>
        <p:nvPr/>
      </p:nvGrpSpPr>
      <p:grpSpPr>
        <a:xfrm>
          <a:off x="0" y="0"/>
          <a:ext cx="0" cy="0"/>
          <a:chOff x="0" y="0"/>
          <a:chExt cx="0" cy="0"/>
        </a:xfrm>
      </p:grpSpPr>
      <p:sp>
        <p:nvSpPr>
          <p:cNvPr id="6" name="Title 22">
            <a:extLst>
              <a:ext uri="{FF2B5EF4-FFF2-40B4-BE49-F238E27FC236}">
                <a16:creationId xmlns:a16="http://schemas.microsoft.com/office/drawing/2014/main" id="{8AB5AD8C-86D7-289F-890D-C9FB9D026CF5}"/>
              </a:ext>
            </a:extLst>
          </p:cNvPr>
          <p:cNvSpPr txBox="1">
            <a:spLocks/>
          </p:cNvSpPr>
          <p:nvPr/>
        </p:nvSpPr>
        <p:spPr>
          <a:xfrm>
            <a:off x="4859828" y="967834"/>
            <a:ext cx="2096424"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Home Page</a:t>
            </a:r>
          </a:p>
        </p:txBody>
      </p:sp>
      <p:sp>
        <p:nvSpPr>
          <p:cNvPr id="7" name="Rectangle 4">
            <a:extLst>
              <a:ext uri="{FF2B5EF4-FFF2-40B4-BE49-F238E27FC236}">
                <a16:creationId xmlns:a16="http://schemas.microsoft.com/office/drawing/2014/main" id="{ADE02F79-70D7-3C11-B4D2-A745C7DBD78A}"/>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73565F7-F9C0-6CA4-4408-45EBD4B34F2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4400" y="1660525"/>
            <a:ext cx="7447280" cy="3787555"/>
          </a:xfrm>
          <a:prstGeom prst="rect">
            <a:avLst/>
          </a:prstGeom>
          <a:noFill/>
          <a:ln>
            <a:noFill/>
          </a:ln>
        </p:spPr>
      </p:pic>
    </p:spTree>
    <p:extLst>
      <p:ext uri="{BB962C8B-B14F-4D97-AF65-F5344CB8AC3E}">
        <p14:creationId xmlns:p14="http://schemas.microsoft.com/office/powerpoint/2010/main" val="1445512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0FAFD-3196-E6CD-1BF4-3AD8AD15052F}"/>
            </a:ext>
          </a:extLst>
        </p:cNvPr>
        <p:cNvGrpSpPr/>
        <p:nvPr/>
      </p:nvGrpSpPr>
      <p:grpSpPr>
        <a:xfrm>
          <a:off x="0" y="0"/>
          <a:ext cx="0" cy="0"/>
          <a:chOff x="0" y="0"/>
          <a:chExt cx="0" cy="0"/>
        </a:xfrm>
      </p:grpSpPr>
      <p:sp>
        <p:nvSpPr>
          <p:cNvPr id="6" name="Title 22">
            <a:extLst>
              <a:ext uri="{FF2B5EF4-FFF2-40B4-BE49-F238E27FC236}">
                <a16:creationId xmlns:a16="http://schemas.microsoft.com/office/drawing/2014/main" id="{2E5442F0-C810-5535-45E0-1C54F2DC6C15}"/>
              </a:ext>
            </a:extLst>
          </p:cNvPr>
          <p:cNvSpPr txBox="1">
            <a:spLocks/>
          </p:cNvSpPr>
          <p:nvPr/>
        </p:nvSpPr>
        <p:spPr>
          <a:xfrm>
            <a:off x="4022440" y="1552944"/>
            <a:ext cx="4147118" cy="50033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Home Page Description</a:t>
            </a:r>
          </a:p>
        </p:txBody>
      </p:sp>
      <p:sp>
        <p:nvSpPr>
          <p:cNvPr id="5" name="Rectangle 3">
            <a:extLst>
              <a:ext uri="{FF2B5EF4-FFF2-40B4-BE49-F238E27FC236}">
                <a16:creationId xmlns:a16="http://schemas.microsoft.com/office/drawing/2014/main" id="{30E80D49-041C-FDEC-258D-2026AC3369A5}"/>
              </a:ext>
            </a:extLst>
          </p:cNvPr>
          <p:cNvSpPr>
            <a:spLocks noChangeArrowheads="1"/>
          </p:cNvSpPr>
          <p:nvPr/>
        </p:nvSpPr>
        <p:spPr bwMode="auto">
          <a:xfrm>
            <a:off x="1292505" y="2450834"/>
            <a:ext cx="960698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500" dirty="0">
                <a:effectLst/>
                <a:latin typeface="Times New Roman" panose="02020603050405020304" pitchFamily="18" charset="0"/>
                <a:ea typeface="Times New Roman" panose="02020603050405020304" pitchFamily="18" charset="0"/>
              </a:rPr>
              <a:t>This</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HTML</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page</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displays</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welcoming</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message</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alongside</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car</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image,</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inviting</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visitors to</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explore</a:t>
            </a:r>
            <a:r>
              <a:rPr lang="en-US" sz="2500" spc="-1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rental</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options.</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The</a:t>
            </a:r>
            <a:r>
              <a:rPr lang="en-US" sz="2500" spc="-1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navigation</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bar</a:t>
            </a:r>
            <a:r>
              <a:rPr lang="en-US" sz="2500" spc="-1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offers</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easy</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access</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to</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key</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sections</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such</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as car brands, car listings, FAQs, and contact information.</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B5B02FF1-33A6-FF97-FBF6-DBF32D472B83}"/>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7645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4731045" y="1023016"/>
            <a:ext cx="2729909"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3000" b="1" dirty="0">
                <a:latin typeface="Times New Roman" panose="02020603050405020304" pitchFamily="18" charset="0"/>
                <a:cs typeface="Times New Roman" panose="02020603050405020304" pitchFamily="18" charset="0"/>
              </a:rPr>
              <a:t>Book Car Page</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5EB4E947-C142-CC35-94E8-3C5022DE00C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9360" y="1576628"/>
            <a:ext cx="7193279" cy="3999639"/>
          </a:xfrm>
          <a:prstGeom prst="rect">
            <a:avLst/>
          </a:prstGeom>
          <a:noFill/>
          <a:ln>
            <a:noFill/>
          </a:ln>
        </p:spPr>
      </p:pic>
    </p:spTree>
    <p:extLst>
      <p:ext uri="{BB962C8B-B14F-4D97-AF65-F5344CB8AC3E}">
        <p14:creationId xmlns:p14="http://schemas.microsoft.com/office/powerpoint/2010/main" val="1483810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766293" y="1552749"/>
            <a:ext cx="4659413" cy="50033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Book Car Page Description</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122744" y="2558865"/>
            <a:ext cx="9606988"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500" dirty="0">
                <a:latin typeface="Times New Roman" panose="02020603050405020304" pitchFamily="18" charset="0"/>
                <a:cs typeface="Times New Roman" panose="02020603050405020304" pitchFamily="18" charset="0"/>
              </a:rPr>
              <a:t>The Book Car Page Provide Different Car For Customers. The page design is clean and structured, showcasing important details about the car and allowing the user to book the vehicle.</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2473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4697057" y="901549"/>
            <a:ext cx="2797885" cy="6775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Car Listing</a:t>
            </a: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9B82F1B-5FAD-E060-DC86-3C8635E95EB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4200" y="1579063"/>
            <a:ext cx="8243599" cy="3817835"/>
          </a:xfrm>
          <a:prstGeom prst="rect">
            <a:avLst/>
          </a:prstGeom>
          <a:noFill/>
          <a:ln>
            <a:noFill/>
          </a:ln>
        </p:spPr>
      </p:pic>
    </p:spTree>
    <p:extLst>
      <p:ext uri="{BB962C8B-B14F-4D97-AF65-F5344CB8AC3E}">
        <p14:creationId xmlns:p14="http://schemas.microsoft.com/office/powerpoint/2010/main" val="1162228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2">
            <a:extLst>
              <a:ext uri="{FF2B5EF4-FFF2-40B4-BE49-F238E27FC236}">
                <a16:creationId xmlns:a16="http://schemas.microsoft.com/office/drawing/2014/main" id="{1DD96C59-38F7-AA1E-066A-0F8D4CF6874B}"/>
              </a:ext>
            </a:extLst>
          </p:cNvPr>
          <p:cNvSpPr txBox="1">
            <a:spLocks/>
          </p:cNvSpPr>
          <p:nvPr/>
        </p:nvSpPr>
        <p:spPr>
          <a:xfrm>
            <a:off x="3449966" y="1480880"/>
            <a:ext cx="5292068" cy="439325"/>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b="1" dirty="0">
                <a:latin typeface="Times New Roman" panose="02020603050405020304" pitchFamily="18" charset="0"/>
                <a:cs typeface="Times New Roman" panose="02020603050405020304" pitchFamily="18" charset="0"/>
              </a:rPr>
              <a:t>Car Listing Page Description</a:t>
            </a:r>
          </a:p>
        </p:txBody>
      </p:sp>
      <p:sp>
        <p:nvSpPr>
          <p:cNvPr id="5" name="Rectangle 3">
            <a:extLst>
              <a:ext uri="{FF2B5EF4-FFF2-40B4-BE49-F238E27FC236}">
                <a16:creationId xmlns:a16="http://schemas.microsoft.com/office/drawing/2014/main" id="{E3469457-ECA9-6A69-2DFE-5608CC04501B}"/>
              </a:ext>
            </a:extLst>
          </p:cNvPr>
          <p:cNvSpPr>
            <a:spLocks noChangeArrowheads="1"/>
          </p:cNvSpPr>
          <p:nvPr/>
        </p:nvSpPr>
        <p:spPr bwMode="auto">
          <a:xfrm>
            <a:off x="1122744" y="2421033"/>
            <a:ext cx="9606988"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500" dirty="0">
                <a:latin typeface="Times New Roman" panose="02020603050405020304" pitchFamily="18" charset="0"/>
                <a:cs typeface="Times New Roman" panose="02020603050405020304" pitchFamily="18" charset="0"/>
              </a:rPr>
              <a:t>The Car Listing page showcases available rental vehicles with images, key details like fuel type, seating capacity, and price per day. A clean, organized layout allows easy comparison of features such as engine, transmission, and mileage. Filters enable quick browsing, ensuring a seamless car selection experience for users.</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396BCA7F-9098-0D16-37D6-B089C2A66124}"/>
              </a:ext>
            </a:extLst>
          </p:cNvPr>
          <p:cNvSpPr>
            <a:spLocks noChangeArrowheads="1"/>
          </p:cNvSpPr>
          <p:nvPr/>
        </p:nvSpPr>
        <p:spPr bwMode="auto">
          <a:xfrm>
            <a:off x="0" y="0"/>
            <a:ext cx="4368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0335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4C5B759-93CB-5B5A-B1D2-2E3C42747C75}"/>
              </a:ext>
            </a:extLst>
          </p:cNvPr>
          <p:cNvSpPr>
            <a:spLocks noGrp="1"/>
          </p:cNvSpPr>
          <p:nvPr>
            <p:ph type="ctrTitle"/>
          </p:nvPr>
        </p:nvSpPr>
        <p:spPr>
          <a:xfrm>
            <a:off x="3923667" y="2943289"/>
            <a:ext cx="4344665" cy="971421"/>
          </a:xfrm>
        </p:spPr>
        <p:txBody>
          <a:bodyPr/>
          <a:lstStyle/>
          <a:p>
            <a:pPr algn="ctr"/>
            <a:r>
              <a:rPr lang="en-US" dirty="0"/>
              <a:t>Thank you!</a:t>
            </a:r>
          </a:p>
        </p:txBody>
      </p:sp>
    </p:spTree>
    <p:extLst>
      <p:ext uri="{BB962C8B-B14F-4D97-AF65-F5344CB8AC3E}">
        <p14:creationId xmlns:p14="http://schemas.microsoft.com/office/powerpoint/2010/main" val="2397583386"/>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A78568-A730-4D3B-A489-FD854E91254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{DF5D8F66-E6D6-4F91-8FAC-5BFC1D9D0126}tf11429527_win32</Template>
  <TotalTime>919</TotalTime>
  <Words>1057</Words>
  <Application>Microsoft Office PowerPoint</Application>
  <PresentationFormat>Widescreen</PresentationFormat>
  <Paragraphs>115</Paragraphs>
  <Slides>26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Century Gothic</vt:lpstr>
      <vt:lpstr>Karla</vt:lpstr>
      <vt:lpstr>Söhne</vt:lpstr>
      <vt:lpstr>Symbol</vt:lpstr>
      <vt:lpstr>Times New Roman</vt:lpstr>
      <vt:lpstr>Univers Condensed Light</vt:lpstr>
      <vt:lpstr>Wingdings</vt:lpstr>
      <vt:lpstr>Office Theme</vt:lpstr>
      <vt:lpstr>Car Rental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about Crops ,Fertilizer and Pesticides</dc:title>
  <dc:creator>Tushar Umretiya</dc:creator>
  <cp:lastModifiedBy>Tushar Umretiya</cp:lastModifiedBy>
  <cp:revision>17</cp:revision>
  <dcterms:created xsi:type="dcterms:W3CDTF">2024-03-28T18:22:23Z</dcterms:created>
  <dcterms:modified xsi:type="dcterms:W3CDTF">2024-12-07T09:13:06Z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